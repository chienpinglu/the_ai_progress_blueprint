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00FFFF"/>
                </a:solidFill>
                <a:latin typeface="Arial"/>
              </a:defRPr>
            </a:pPr>
            <a:r>
              <a:t>The Architecture of AI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0F0F0"/>
                </a:solidFill>
                <a:latin typeface="Arial"/>
              </a:defRPr>
            </a:pPr>
            <a:r>
              <a:t>Synthesizing the Formal Foundations and Empirical Drivers of Artificial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The Discourse Gap: Why This Program Exists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Hype: Empirical AI discourse often focuses on capability scaling and scaling laws without a rigorous formal theory of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Limits: Theoretical discourse frequently emphasizes strict mathematical limits without explaining how relentless practical progress continues to appear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5196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Missing Link: We require a single, unified model that explains how formal boundaries, empirical drivers, and system-level architectural consequences interact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The Two-Pair Structure of AI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430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D700"/>
                </a:solidFill>
                <a:latin typeface="Arial"/>
              </a:defRPr>
            </a:pPr>
            <a:r>
              <a:t>•  The Formal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514600"/>
            <a:ext cx="9902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0F0F0"/>
                </a:solidFill>
                <a:latin typeface="Arial"/>
              </a:defRPr>
            </a:pPr>
            <a:r>
              <a:t>• Paper 1 (Computability): Intelligence as an open-ended limiting process at the outer boundary of what can be mechanized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11880"/>
            <a:ext cx="9902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0F0F0"/>
                </a:solidFill>
                <a:latin typeface="Arial"/>
              </a:defRPr>
            </a:pPr>
            <a:r>
              <a:t>• Paper 2 (Complexity): Intelligence as a staged bounded ascent at the inner boundary of polynomial-time reachability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09160"/>
            <a:ext cx="105430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D700"/>
                </a:solidFill>
                <a:latin typeface="Arial"/>
              </a:defRPr>
            </a:pPr>
            <a:r>
              <a:t>•  The Empirical and Architectural Bridge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577840"/>
            <a:ext cx="9902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0F0F0"/>
                </a:solidFill>
                <a:latin typeface="Arial"/>
              </a:defRPr>
            </a:pPr>
            <a:r>
              <a:t>• Paper 3 (Scaling Laws): How abstract scaling drives progress and enforces a race for hidden efficiency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6675120"/>
            <a:ext cx="9902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0F0F0"/>
                </a:solidFill>
                <a:latin typeface="Arial"/>
              </a:defRPr>
            </a:pPr>
            <a:r>
              <a:t>• Paper 4 (Modernized Amdahl): How the pressure of scaling reshapes the hardware allocation between specialized and programmable compute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Paper 1: The Computability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Beyond a Fixed Closure: Intelligence is not one finitely specifiable, fixed rule-governed procedure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Limiting-Process Structure: When a process is mechanized, the higher-order task of guiding, specifying, and evaluating that mechanization is displaced upward to a new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5196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Local Mechanization vs. Open Boundary: Every established, mechanized computational layer possesses a canonical, relatively uncomputable open boundary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Paper 1: The Mechanics of Ascent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474720"/>
            <a:ext cx="4572000" cy="731520"/>
          </a:xfrm>
          <a:prstGeom prst="rect">
            <a:avLst/>
          </a:prstGeom>
          <a:solidFill>
            <a:srgbClr val="0A1929"/>
          </a:solidFill>
          <a:ln w="25400"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Arial"/>
              </a:defRPr>
            </a:pPr>
            <a:r>
              <a:t>A_n (Foundational Layer)</a:t>
            </a:r>
          </a:p>
        </p:txBody>
      </p:sp>
      <p:sp>
        <p:nvSpPr>
          <p:cNvPr id="4" name="Up Arrow 3"/>
          <p:cNvSpPr/>
          <p:nvPr/>
        </p:nvSpPr>
        <p:spPr>
          <a:xfrm>
            <a:off x="5486400" y="2560320"/>
            <a:ext cx="914400" cy="731520"/>
          </a:xfrm>
          <a:prstGeom prst="upArrow">
            <a:avLst/>
          </a:prstGeom>
          <a:solidFill>
            <a:srgbClr val="FFD700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1645920"/>
            <a:ext cx="4572000" cy="731520"/>
          </a:xfrm>
          <a:prstGeom prst="rect">
            <a:avLst/>
          </a:prstGeom>
          <a:solidFill>
            <a:srgbClr val="0A1929"/>
          </a:solidFill>
          <a:ln w="25400"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Arial"/>
              </a:defRPr>
            </a:pPr>
            <a:r>
              <a:t>Intermediate Step (B)</a:t>
            </a:r>
          </a:p>
        </p:txBody>
      </p:sp>
      <p:sp>
        <p:nvSpPr>
          <p:cNvPr id="6" name="Up Arrow 5"/>
          <p:cNvSpPr/>
          <p:nvPr/>
        </p:nvSpPr>
        <p:spPr>
          <a:xfrm>
            <a:off x="5486400" y="914400"/>
            <a:ext cx="914400" cy="548640"/>
          </a:xfrm>
          <a:prstGeom prst="upArrow">
            <a:avLst/>
          </a:prstGeom>
          <a:solidFill>
            <a:srgbClr val="FFD700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274320"/>
            <a:ext cx="5486400" cy="457200"/>
          </a:xfrm>
          <a:prstGeom prst="rect">
            <a:avLst/>
          </a:prstGeom>
          <a:solidFill>
            <a:srgbClr val="0A1929"/>
          </a:solidFill>
          <a:ln w="25400">
            <a:solidFill>
              <a:srgbClr val="00FF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FFFF"/>
                </a:solidFill>
                <a:latin typeface="Arial"/>
              </a:defRPr>
            </a:pPr>
            <a:r>
              <a:t>A'_n (Turing Jump / Open Ceiling)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38912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Turing Jump as a Ceiling: The absolute boundary of any mechanized layer is its Turing jump (A')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48640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Progressive Layers: Real progress occurs through intermediate strengthenings (A &lt;_T B &lt;_T A'), mechanizing steps strictly below the absolute jump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699516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Non-Capture: No single settled layer captures the entire open-ended process of intelligence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Paper 2: The Feasibility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Redefining Feasibility: The practical reach of intelligence is not a binary “P = NP or nothing”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Expanding Reachability: Progress manifests as progressively wider polynomial-time reach across difficult search tasks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Staged Bounded Ascent: Moving upward by internalizing richer structures of guided search while remaining feasible under strict polynomial-time constraints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Paper 2: The Polynomial Hierarchy as Limiting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3108960"/>
            <a:ext cx="2743200" cy="548640"/>
          </a:xfrm>
          <a:prstGeom prst="rect">
            <a:avLst/>
          </a:prstGeom>
          <a:solidFill>
            <a:srgbClr val="0A1929"/>
          </a:solidFill>
          <a:ln w="25400"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Arial"/>
              </a:defRPr>
            </a:pPr>
            <a:r>
              <a:t>P (Direct Decision)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297680" y="3200400"/>
            <a:ext cx="548640" cy="365760"/>
          </a:xfrm>
          <a:prstGeom prst="rightArrow">
            <a:avLst/>
          </a:prstGeom>
          <a:solidFill>
            <a:srgbClr val="FFD700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0" y="2377440"/>
            <a:ext cx="3200400" cy="548640"/>
          </a:xfrm>
          <a:prstGeom prst="rect">
            <a:avLst/>
          </a:prstGeom>
          <a:solidFill>
            <a:srgbClr val="0A1929"/>
          </a:solidFill>
          <a:ln w="25400"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Arial"/>
              </a:defRPr>
            </a:pPr>
            <a:r>
              <a:t>NP (Certificate Verification)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8412480" y="2468880"/>
            <a:ext cx="548640" cy="365760"/>
          </a:xfrm>
          <a:prstGeom prst="rightArrow">
            <a:avLst/>
          </a:prstGeom>
          <a:solidFill>
            <a:srgbClr val="FFD700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0" y="1645920"/>
            <a:ext cx="2743200" cy="548640"/>
          </a:xfrm>
          <a:prstGeom prst="rect">
            <a:avLst/>
          </a:prstGeom>
          <a:solidFill>
            <a:srgbClr val="0A1929"/>
          </a:solidFill>
          <a:ln w="25400"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Arial"/>
              </a:defRPr>
            </a:pPr>
            <a:r>
              <a:t>PH (Guided Search)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Bounded Verification Games: The Polynomial Hierarchy provides a finite-depth ladder of structured proposal, challenge, and repair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02920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Internalizing Search: Moving up the hierarchy allows a system to absorb what was previously external search into a stronger—but still explicitly bounded—verification framework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Synthesis of Pair 1: The Map of Formal Boundaries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2286000"/>
          </a:xfrm>
          <a:prstGeom prst="roundRect">
            <a:avLst/>
          </a:prstGeom>
          <a:solidFill>
            <a:srgbClr val="0A1929"/>
          </a:solidFill>
          <a:ln w="25400"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Arial"/>
              </a:defRPr>
            </a:pPr>
            <a:r>
              <a:t>Well-defined tasks (Open-ended)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17373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FFFF"/>
                </a:solidFill>
                <a:latin typeface="Arial"/>
              </a:defRPr>
            </a:pPr>
            <a:r>
              <a:t>Well-defined tasks (Open-ended)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645920"/>
            <a:ext cx="8531352" cy="2286000"/>
          </a:xfrm>
          <a:prstGeom prst="roundRect">
            <a:avLst/>
          </a:prstGeom>
          <a:solidFill>
            <a:srgbClr val="0A1929"/>
          </a:solidFill>
          <a:ln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17373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FFFF"/>
                </a:solidFill>
                <a:latin typeface="Arial"/>
              </a:defRPr>
            </a:pPr>
            <a:r>
              <a:t>Well-Defined Tasks (Open-Ended)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2103120"/>
            <a:ext cx="6702552" cy="1645920"/>
          </a:xfrm>
          <a:prstGeom prst="roundRect">
            <a:avLst/>
          </a:prstGeom>
          <a:solidFill>
            <a:srgbClr val="0A1929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21945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Arial"/>
              </a:defRPr>
            </a:pPr>
            <a:r>
              <a:t>Computable Tasks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2560320"/>
            <a:ext cx="4873752" cy="1005840"/>
          </a:xfrm>
          <a:prstGeom prst="roundRect">
            <a:avLst/>
          </a:prstGeom>
          <a:solidFill>
            <a:srgbClr val="0A1929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2926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0F0"/>
                </a:solidFill>
                <a:latin typeface="Arial"/>
              </a:defRPr>
            </a:pPr>
            <a:r>
              <a:t>Polynomial-Time Feasible Tasks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20624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Outer Boundary (Computability): The divide between computable tasks and uncomputable, open-ended well-defined tasks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30352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Inner Boundary (Feasibility): The divide between what is merely computable in principle and what is polynomial-time reachable in practice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The Empirical Gap: Why Pair 1 is Not Enough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Transition: Pair 1 provides the formal structure, explaining exactly what progress means mathematically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Missing Engine: Formal limits alone do not explain why progress continually appears in real-world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1772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We must bridge the gap between formal structure and empirical hardware realities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Paper 3: Scaling Laws and Logical Compute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Power of Abstraction: Scaling laws are unreasonably effective precisely because they abstract over realization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Logical vs. Physical Compute: The "compute" variable actually represents logical compute (abstract model-side work), independent of the efficiency of the physical 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5196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Real Meaning of Diminishing Returns: A flattening scaling curve does not just mean slower progress; it represents a rapidly escalating physical and operational burden to achieve the next step of value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Paper 3: The Dynamic Implication of Hidden Efficiency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2103120"/>
            <a:ext cx="2743200" cy="914400"/>
          </a:xfrm>
          <a:prstGeom prst="rect">
            <a:avLst/>
          </a:prstGeom>
          <a:solidFill>
            <a:srgbClr val="0A1929"/>
          </a:solidFill>
          <a:ln w="25400"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Arial"/>
              </a:defRPr>
            </a:pPr>
            <a:r>
              <a:t>Logical Compute Demand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754880" y="2377440"/>
            <a:ext cx="731520" cy="365760"/>
          </a:xfrm>
          <a:prstGeom prst="rightArrow">
            <a:avLst/>
          </a:prstGeom>
          <a:solidFill>
            <a:srgbClr val="FFD700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0" y="2103120"/>
            <a:ext cx="2286000" cy="914400"/>
          </a:xfrm>
          <a:prstGeom prst="rect">
            <a:avLst/>
          </a:prstGeom>
          <a:solidFill>
            <a:srgbClr val="0A1929"/>
          </a:solidFill>
          <a:ln w="25400"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Arial"/>
              </a:defRPr>
            </a:pPr>
            <a:r>
              <a:t>Physical Burden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8138160" y="2377440"/>
            <a:ext cx="731520" cy="365760"/>
          </a:xfrm>
          <a:prstGeom prst="rightArrow">
            <a:avLst/>
          </a:prstGeom>
          <a:solidFill>
            <a:srgbClr val="FFD700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52560" y="2103120"/>
            <a:ext cx="2286000" cy="914400"/>
          </a:xfrm>
          <a:prstGeom prst="rect">
            <a:avLst/>
          </a:prstGeom>
          <a:solidFill>
            <a:srgbClr val="0A1929"/>
          </a:solidFill>
          <a:ln w="25400"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Arial"/>
              </a:defRPr>
            </a:pPr>
            <a:r>
              <a:t>Efficiency Optimization</a:t>
            </a:r>
          </a:p>
        </p:txBody>
      </p:sp>
      <p:sp>
        <p:nvSpPr>
          <p:cNvPr id="8" name="Left Arrow 7"/>
          <p:cNvSpPr/>
          <p:nvPr/>
        </p:nvSpPr>
        <p:spPr>
          <a:xfrm>
            <a:off x="3200400" y="3291840"/>
            <a:ext cx="6858000" cy="274320"/>
          </a:xfrm>
          <a:prstGeom prst="leftArrow">
            <a:avLst/>
          </a:prstGeom>
          <a:solidFill>
            <a:srgbClr val="00FFFF"/>
          </a:solidFill>
          <a:ln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93192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Efficiency Race: Progress persists because of repeated, compounding efficiency gains in algorithms, low-precision software, systems, and hardware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4068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Changing the Cost: The empirical scaling law dictates what logical compute buys; the compounding efficiency stack constantly changes what that compute costs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Paper 4: Modernizing Amdahl’s Law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Beyond Core Counts: Classical Amdahl’s Law (fixed serial/parallel fraction) fails to describe modern heterogeneous AI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Constrained Hardware Allocation: The modern design question is how to allocate a constrained hardware budget between specialized logic and programmable compute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5196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Value-Scalable Fraction (S): The portion of the workload where injecting additional compute continues to create meaningful, end-to-end task value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Paper 4: The Collapse Threshold of Specialization</a:t>
            </a:r>
          </a:p>
        </p:txBody>
      </p:sp>
      <p:sp>
        <p:nvSpPr>
          <p:cNvPr id="3" name="Up Arrow 2"/>
          <p:cNvSpPr/>
          <p:nvPr/>
        </p:nvSpPr>
        <p:spPr>
          <a:xfrm>
            <a:off x="1828800" y="1645920"/>
            <a:ext cx="91440" cy="2286000"/>
          </a:xfrm>
          <a:prstGeom prst="up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21031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Arial"/>
              </a:defRPr>
            </a:pPr>
            <a:r>
              <a:t>Specialization Efficiency (R)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828800" y="3931920"/>
            <a:ext cx="5486400" cy="9144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4023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700"/>
                </a:solidFill>
                <a:latin typeface="Arial"/>
              </a:defRPr>
            </a:pPr>
            <a:r>
              <a:t>Scalable Fraction (S)</a:t>
            </a:r>
          </a:p>
        </p:txBody>
      </p:sp>
      <p:sp>
        <p:nvSpPr>
          <p:cNvPr id="7" name="Straight Connector 6"/>
          <p:cNvSpPr/>
          <p:nvPr/>
        </p:nvSpPr>
        <p:spPr>
          <a:xfrm>
            <a:off x="1828800" y="3931920"/>
            <a:ext cx="4572000" cy="1828800"/>
          </a:xfrm>
          <a:prstGeom prst="lineInv">
            <a:avLst/>
          </a:prstGeom>
          <a:ln w="50800"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10312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FFFF"/>
                </a:solidFill>
                <a:latin typeface="Arial"/>
              </a:defRPr>
            </a:pPr>
            <a:r>
              <a:t>Collapse Threshold: R_c = 1 / (1-S)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Rising Bar: As the value-scalable workload (S) grows, fixed-function specialization faces a strict collapse threshold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Key Equation: For a given scalable fraction S, specialized hardware must achieve a relative efficiency ratio of R_c = 1/(1−S) to justify its inclusion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6995160"/>
            <a:ext cx="101772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Specialization must constantly re-earn its silicon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Architectural Consequence: The Pressure for Programmability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Shifting Value: AI scaling pushes value-generation away from early fixed pipelines toward learned, late-stage computation (e.g., neural reconstruction, massive rerankers)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5468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Why GPUs Become More Programmable: As S rises, the optimal hardware locus shifts toward generalized, tensor-heavy programmable compute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5196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Accelerator Dynamic: AI domain-specific accelerators matter, but they do not simply displace the GPU; they must continually adapt as the dominant value-producing workload evolves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Final Synthesis: The Unified Picture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2286000" cy="914400"/>
          </a:xfrm>
          <a:prstGeom prst="rect">
            <a:avLst/>
          </a:prstGeom>
          <a:solidFill>
            <a:srgbClr val="0A1929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Arial"/>
              </a:defRPr>
            </a:pPr>
            <a:r>
              <a:t>1. Formal Limits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91840" y="2011680"/>
            <a:ext cx="365760" cy="182880"/>
          </a:xfrm>
          <a:prstGeom prst="rightArrow">
            <a:avLst/>
          </a:prstGeom>
          <a:solidFill>
            <a:srgbClr val="F0F0F0"/>
          </a:solidFill>
          <a:ln w="25400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749039" y="1645920"/>
            <a:ext cx="2286000" cy="914400"/>
          </a:xfrm>
          <a:prstGeom prst="rect">
            <a:avLst/>
          </a:prstGeom>
          <a:solidFill>
            <a:srgbClr val="0A1929"/>
          </a:solidFill>
          <a:ln w="25400"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Arial"/>
              </a:defRPr>
            </a:pPr>
            <a:r>
              <a:t>2. Bounded Feasibility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6126480" y="2011680"/>
            <a:ext cx="365760" cy="182880"/>
          </a:xfrm>
          <a:prstGeom prst="rightArrow">
            <a:avLst/>
          </a:prstGeom>
          <a:solidFill>
            <a:srgbClr val="F0F0F0"/>
          </a:solidFill>
          <a:ln w="25400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0" y="1645920"/>
            <a:ext cx="2286000" cy="914400"/>
          </a:xfrm>
          <a:prstGeom prst="rect">
            <a:avLst/>
          </a:prstGeom>
          <a:solidFill>
            <a:srgbClr val="0A1929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Arial"/>
              </a:defRPr>
            </a:pPr>
            <a:r>
              <a:t>3. Empirical Scaling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961120" y="2011680"/>
            <a:ext cx="365760" cy="182880"/>
          </a:xfrm>
          <a:prstGeom prst="rightArrow">
            <a:avLst/>
          </a:prstGeom>
          <a:solidFill>
            <a:srgbClr val="F0F0F0"/>
          </a:solidFill>
          <a:ln w="25400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18320" y="1645920"/>
            <a:ext cx="2286000" cy="914400"/>
          </a:xfrm>
          <a:prstGeom prst="rect">
            <a:avLst/>
          </a:prstGeom>
          <a:solidFill>
            <a:srgbClr val="0A1929"/>
          </a:solidFill>
          <a:ln w="25400"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Arial"/>
              </a:defRPr>
            </a:pPr>
            <a:r>
              <a:t>4. Hardware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1772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1. Computability: Open-ended ascent across relative boundaries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2. Feasibility: Staged reachability through polynomial-time verification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0060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3. Empirical Drivers: Logical scaling sustained by compounding hidden efficiency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89788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4. Architectural Response: Rising scalable workloads driving hardware toward programmable compute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Closing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A Structured Phenomenon: AI progress is neither pure hype nor a contradiction of theoretical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Unified Program: Intelligence emerges as a structured, open-ended process bounded by formal limits, propelled by empirical scaling drivers, and fundamentally reshaping system-level hardware consequences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